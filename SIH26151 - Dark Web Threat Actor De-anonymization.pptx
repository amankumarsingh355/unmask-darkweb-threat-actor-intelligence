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Garamond"/>
      <p:bold r:id="rId12"/>
      <p:boldItalic r:id="rId13"/>
    </p:embeddedFont>
    <p:embeddedFont>
      <p:font typeface="Arimo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tF7QRhSvmLNHkHhOBYPKfSGbk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Italic.fntdata"/><Relationship Id="rId12" Type="http://schemas.openxmlformats.org/officeDocument/2006/relationships/font" Target="fonts/Garamo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mo-boldItalic.fntdata"/><Relationship Id="rId14" Type="http://schemas.openxmlformats.org/officeDocument/2006/relationships/font" Target="fonts/Arimo-bold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7" name="Google Shape;167;p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69" name="Google Shape;16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3" name="Google Shape;193;p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95" name="Google Shape;195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8" name="Google Shape;218;p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20" name="Google Shape;220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2" name="Google Shape;242;p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44" name="Google Shape;244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8485165" y="1277283"/>
            <a:ext cx="6957908" cy="7732452"/>
          </a:xfrm>
          <a:custGeom>
            <a:rect b="b" l="l" r="r" t="t"/>
            <a:pathLst>
              <a:path extrusionOk="0"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0767758" y="2741842"/>
            <a:ext cx="4805267" cy="5139309"/>
          </a:xfrm>
          <a:custGeom>
            <a:rect b="b" l="l" r="r" t="t"/>
            <a:pathLst>
              <a:path extrusionOk="0" h="6852412" w="6407023">
                <a:moveTo>
                  <a:pt x="0" y="0"/>
                </a:moveTo>
                <a:lnTo>
                  <a:pt x="6407023" y="0"/>
                </a:lnTo>
                <a:lnTo>
                  <a:pt x="6407023" y="6852412"/>
                </a:lnTo>
                <a:lnTo>
                  <a:pt x="0" y="6852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-14947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295400" y="1462189"/>
            <a:ext cx="14757273" cy="702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545454"/>
                </a:solidFill>
                <a:latin typeface="Times"/>
                <a:ea typeface="Times"/>
                <a:cs typeface="Times"/>
                <a:sym typeface="Times"/>
              </a:rPr>
              <a:t>UNMASK — THREAT INTELLIGENCE SOLUTION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243069" y="-772612"/>
            <a:ext cx="15544800" cy="3128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92625" y="3200321"/>
            <a:ext cx="9217200" cy="6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5755" lvl="1" marL="65151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b="1" lang="en-US" sz="3600">
                <a:solidFill>
                  <a:srgbClr val="545454"/>
                </a:solidFill>
              </a:rPr>
              <a:t>-</a:t>
            </a:r>
            <a:r>
              <a:rPr b="1" i="0" lang="en-US" sz="36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26151 </a:t>
            </a:r>
            <a:endParaRPr/>
          </a:p>
          <a:p>
            <a:pPr indent="-325755" lvl="1" marL="65151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Problem Statement Title- Dark Web Threat Actor De-anonymization</a:t>
            </a:r>
            <a:endParaRPr/>
          </a:p>
          <a:p>
            <a:pPr indent="-325755" lvl="1" marL="65151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Theme- Blockchain &amp; Cybersecurity</a:t>
            </a:r>
            <a:endParaRPr/>
          </a:p>
          <a:p>
            <a:pPr indent="-325755" lvl="1" marL="65151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/>
          </a:p>
          <a:p>
            <a:pPr indent="-325755" lvl="1" marL="65151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Team ID - SIH26151</a:t>
            </a:r>
            <a:endParaRPr/>
          </a:p>
          <a:p>
            <a:pPr indent="-325755" lvl="1" marL="65151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Team Name : ROOTX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9516010"/>
            <a:ext cx="18287545" cy="7589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096000" y="9537192"/>
            <a:ext cx="56235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@SIH Idea submission- Template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7282160" y="9570720"/>
            <a:ext cx="6858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967542" y="1245108"/>
            <a:ext cx="1152144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3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UNMASK : </a:t>
            </a:r>
            <a:r>
              <a:rPr lang="en-US" sz="3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Threat Actor De-anonymization</a:t>
            </a:r>
            <a:endParaRPr sz="33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85800" y="2397252"/>
            <a:ext cx="3796932" cy="1536192"/>
          </a:xfrm>
          <a:prstGeom prst="roundRect">
            <a:avLst>
              <a:gd fmla="val 5357" name="adj"/>
            </a:avLst>
          </a:prstGeom>
          <a:solidFill>
            <a:srgbClr val="F7F7F7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home/claude/darktrace/ingestion_bw.png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7378" y="256184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795528" y="3124200"/>
            <a:ext cx="35774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INGESTION</a:t>
            </a:r>
            <a:endParaRPr sz="1575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95528" y="3508248"/>
            <a:ext cx="35774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 web forums,</a:t>
            </a:r>
            <a:endParaRPr sz="1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markets &amp; leak sites</a:t>
            </a:r>
            <a:endParaRPr sz="1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4482732" y="2397252"/>
            <a:ext cx="57607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058804" y="2388108"/>
            <a:ext cx="3796932" cy="1536192"/>
          </a:xfrm>
          <a:prstGeom prst="roundRect">
            <a:avLst>
              <a:gd fmla="val 5357" name="adj"/>
            </a:avLst>
          </a:prstGeom>
          <a:solidFill>
            <a:srgbClr val="F7F7F7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home/claude/darktrace/nlp_bw.png" id="110" name="Google Shape;11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0382" y="256184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5168532" y="3124200"/>
            <a:ext cx="35774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ENTITY EXTRACTION</a:t>
            </a:r>
            <a:endParaRPr sz="1575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5168532" y="3508248"/>
            <a:ext cx="35774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spaCy NER — aliases,</a:t>
            </a:r>
            <a:endParaRPr sz="1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wallets, PGP keys</a:t>
            </a:r>
            <a:endParaRPr sz="1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855736" y="2397252"/>
            <a:ext cx="57607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9431808" y="2397252"/>
            <a:ext cx="3796932" cy="1536192"/>
          </a:xfrm>
          <a:prstGeom prst="roundRect">
            <a:avLst>
              <a:gd fmla="val 5357" name="adj"/>
            </a:avLst>
          </a:prstGeom>
          <a:solidFill>
            <a:srgbClr val="F7F7F7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home/claude/darktrace/correlation_bw.png" id="115" name="Google Shape;1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83386" y="256184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9541536" y="3124200"/>
            <a:ext cx="35774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CORRELATION</a:t>
            </a:r>
            <a:endParaRPr sz="1575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9541536" y="3508248"/>
            <a:ext cx="35774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cross-</a:t>
            </a:r>
            <a:endParaRPr sz="1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 ID linking</a:t>
            </a:r>
            <a:endParaRPr sz="1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3228739" y="2397252"/>
            <a:ext cx="57607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3804811" y="2397252"/>
            <a:ext cx="3796932" cy="1536192"/>
          </a:xfrm>
          <a:prstGeom prst="roundRect">
            <a:avLst>
              <a:gd fmla="val 5357" name="adj"/>
            </a:avLst>
          </a:prstGeom>
          <a:solidFill>
            <a:srgbClr val="F7F7F7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home/claude/darktrace/graph_bw.png" id="120" name="Google Shape;12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456389" y="256184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13914539" y="3124200"/>
            <a:ext cx="35774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THREAT GRAPH</a:t>
            </a:r>
            <a:endParaRPr sz="1575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3914539" y="3508248"/>
            <a:ext cx="35774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Neo4j + React Flow</a:t>
            </a:r>
            <a:endParaRPr sz="1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 network map</a:t>
            </a:r>
            <a:endParaRPr sz="1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85800" y="4197520"/>
            <a:ext cx="531860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EXPLANATION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85800" y="4756404"/>
            <a:ext cx="5318607" cy="1371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71408" y="5007697"/>
            <a:ext cx="123444" cy="12344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124711" y="4869721"/>
            <a:ext cx="4701387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Extraction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124710" y="5252383"/>
            <a:ext cx="4701387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spaCy NLP pipeline auto-extracts usernames, wallets, PGP keys &amp; linguistic fingerprints from unstructured text.</a:t>
            </a:r>
            <a:endParaRPr sz="16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685800" y="6484620"/>
            <a:ext cx="5318607" cy="1371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91540" y="6690360"/>
            <a:ext cx="123444" cy="12344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124712" y="6594348"/>
            <a:ext cx="4701387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Correlation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124712" y="6978396"/>
            <a:ext cx="4701387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models correlate writing style &amp; posting patterns to link pseudonymous identities to one actor.</a:t>
            </a:r>
            <a:endParaRPr sz="16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85800" y="8048244"/>
            <a:ext cx="5318607" cy="1371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891540" y="8253984"/>
            <a:ext cx="123444" cy="12344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124712" y="8157972"/>
            <a:ext cx="4701387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Risk Scoring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1124712" y="8542020"/>
            <a:ext cx="4701387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generates a transparent, evidence-backed threat score — no black-box verdicts.</a:t>
            </a:r>
            <a:endParaRPr sz="16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6525616" y="4197520"/>
            <a:ext cx="531860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ADDRESSES THE PROBLEM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6484467" y="4920996"/>
            <a:ext cx="5318607" cy="1810512"/>
          </a:xfrm>
          <a:prstGeom prst="roundRect">
            <a:avLst>
              <a:gd fmla="val 3788" name="adj"/>
            </a:avLst>
          </a:prstGeom>
          <a:solidFill>
            <a:schemeClr val="lt1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758787" y="5113020"/>
            <a:ext cx="4769967" cy="3840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✖  BEFORE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6758787" y="5551932"/>
            <a:ext cx="4769967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Manual, siloed monitoring — analysts miss cross-platform links between anonymous actors.</a:t>
            </a:r>
            <a:endParaRPr sz="16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6484467" y="6800088"/>
            <a:ext cx="5318607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sz="2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6525617" y="7137384"/>
            <a:ext cx="5318607" cy="1810512"/>
          </a:xfrm>
          <a:prstGeom prst="roundRect">
            <a:avLst>
              <a:gd fmla="val 3788" name="adj"/>
            </a:avLst>
          </a:prstGeom>
          <a:solidFill>
            <a:schemeClr val="lt1"/>
          </a:solidFill>
          <a:ln cap="flat" cmpd="sng" w="158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 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Automated AI-driven correlation reveals hidden actor   networks instantly, end-to-end.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12283136" y="4212169"/>
            <a:ext cx="531860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INNOVATIONS (USP)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2283136" y="4920996"/>
            <a:ext cx="5318607" cy="1371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12475160" y="5126736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home/claude/darktrace/multisignal_bw.png" id="145" name="Google Shape;14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91746" y="5257038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"/>
          <p:cNvSpPr txBox="1"/>
          <p:nvPr/>
        </p:nvSpPr>
        <p:spPr>
          <a:xfrm>
            <a:off x="13160960" y="5044440"/>
            <a:ext cx="427619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Multi-Signal Correlation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13160960" y="5455920"/>
            <a:ext cx="4276191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Fuses linguistic, behavioral &amp; transactional signals — no single-source tool can match it.</a:t>
            </a:r>
            <a:endParaRPr sz="16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12283136" y="6484620"/>
            <a:ext cx="5318607" cy="1371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12475160" y="6690360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home/claude/darktrace/xai_bw.png" id="150" name="Google Shape;15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591746" y="6820662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"/>
          <p:cNvSpPr txBox="1"/>
          <p:nvPr/>
        </p:nvSpPr>
        <p:spPr>
          <a:xfrm>
            <a:off x="13160960" y="6608064"/>
            <a:ext cx="427619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Unmask analyst  AI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160960" y="7019544"/>
            <a:ext cx="4276191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risk score is justified &amp; analyst-trustworthy, not a black box.</a:t>
            </a:r>
            <a:endParaRPr sz="16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12283136" y="8048244"/>
            <a:ext cx="5318607" cy="1371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2475160" y="8253984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home/claude/darktrace/pivot_bw.png" id="155" name="Google Shape;15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91746" y="8384286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"/>
          <p:cNvSpPr txBox="1"/>
          <p:nvPr/>
        </p:nvSpPr>
        <p:spPr>
          <a:xfrm>
            <a:off x="13160960" y="8171688"/>
            <a:ext cx="427619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Investigation Pivoting</a:t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13160960" y="8583168"/>
            <a:ext cx="4276191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Click-to-expand graph — pivot instantly from one actor to their entire network.</a:t>
            </a:r>
            <a:endParaRPr sz="16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8" name="Google Shape;158;p2"/>
          <p:cNvGrpSpPr/>
          <p:nvPr/>
        </p:nvGrpSpPr>
        <p:grpSpPr>
          <a:xfrm>
            <a:off x="475488" y="313754"/>
            <a:ext cx="1915887" cy="1291973"/>
            <a:chOff x="0" y="-57150"/>
            <a:chExt cx="2554516" cy="1722631"/>
          </a:xfrm>
        </p:grpSpPr>
        <p:sp>
          <p:nvSpPr>
            <p:cNvPr descr="Your startup LOGO" id="159" name="Google Shape;159;p2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RootX</a:t>
              </a:r>
              <a:endParaRPr/>
            </a:p>
          </p:txBody>
        </p:sp>
      </p:grpSp>
      <p:sp>
        <p:nvSpPr>
          <p:cNvPr id="161" name="Google Shape;161;p2"/>
          <p:cNvSpPr txBox="1"/>
          <p:nvPr/>
        </p:nvSpPr>
        <p:spPr>
          <a:xfrm>
            <a:off x="533400" y="5844373"/>
            <a:ext cx="16459200" cy="1735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3334988" y="265599"/>
            <a:ext cx="10397586" cy="1849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14670129" y="2248"/>
            <a:ext cx="3374802" cy="1593533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/>
          <p:nvPr/>
        </p:nvSpPr>
        <p:spPr>
          <a:xfrm>
            <a:off x="0" y="9532144"/>
            <a:ext cx="18288000" cy="754856"/>
          </a:xfrm>
          <a:custGeom>
            <a:rect b="b" l="l" r="r" t="t"/>
            <a:pathLst>
              <a:path extrusionOk="0" h="1006475" w="24384000">
                <a:moveTo>
                  <a:pt x="0" y="0"/>
                </a:moveTo>
                <a:lnTo>
                  <a:pt x="24384000" y="0"/>
                </a:lnTo>
                <a:lnTo>
                  <a:pt x="24384000" y="1006475"/>
                </a:lnTo>
                <a:lnTo>
                  <a:pt x="0" y="10064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3" name="Google Shape;173;p3"/>
          <p:cNvGrpSpPr/>
          <p:nvPr/>
        </p:nvGrpSpPr>
        <p:grpSpPr>
          <a:xfrm>
            <a:off x="914400" y="-92869"/>
            <a:ext cx="16459200" cy="1735931"/>
            <a:chOff x="0" y="-28575"/>
            <a:chExt cx="21945600" cy="2314575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21945600" cy="2286000"/>
            </a:xfrm>
            <a:custGeom>
              <a:rect b="b" l="l" r="r" t="t"/>
              <a:pathLst>
                <a:path extrusionOk="0"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54545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TECHNICAL APPROACH</a:t>
              </a:r>
              <a:endParaRPr/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3106400" y="9520237"/>
            <a:ext cx="4267200" cy="561976"/>
            <a:chOff x="0" y="-19050"/>
            <a:chExt cx="5689600" cy="7493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5689600" cy="730250"/>
            </a:xfrm>
            <a:custGeom>
              <a:rect b="b" l="l" r="r" t="t"/>
              <a:pathLst>
                <a:path extrusionOk="0"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810" l="0" r="0" t="-10181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6972300" y="9520237"/>
            <a:ext cx="4806001" cy="561976"/>
            <a:chOff x="0" y="-19050"/>
            <a:chExt cx="6408001" cy="7493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6408000" cy="730250"/>
            </a:xfrm>
            <a:custGeom>
              <a:rect b="b" l="l" r="r" t="t"/>
              <a:pathLst>
                <a:path extrusionOk="0"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0987" l="0" r="0" t="-12098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  <a:endParaRPr/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475612" y="316459"/>
            <a:ext cx="1915887" cy="1291973"/>
            <a:chOff x="0" y="-57150"/>
            <a:chExt cx="2554516" cy="1722631"/>
          </a:xfrm>
        </p:grpSpPr>
        <p:sp>
          <p:nvSpPr>
            <p:cNvPr descr="Your startup LOGO" id="183" name="Google Shape;183;p3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54545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RootX</a:t>
              </a:r>
              <a:endParaRPr/>
            </a:p>
          </p:txBody>
        </p:sp>
      </p:grpSp>
      <p:sp>
        <p:nvSpPr>
          <p:cNvPr id="185" name="Google Shape;185;p3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8686800" y="2909282"/>
            <a:ext cx="8991601" cy="5587018"/>
          </a:xfrm>
          <a:custGeom>
            <a:rect b="b" l="l" r="r" t="t"/>
            <a:pathLst>
              <a:path extrusionOk="0" h="5048934" w="7573401">
                <a:moveTo>
                  <a:pt x="0" y="0"/>
                </a:moveTo>
                <a:lnTo>
                  <a:pt x="7573402" y="0"/>
                </a:lnTo>
                <a:lnTo>
                  <a:pt x="7573402" y="5048934"/>
                </a:lnTo>
                <a:lnTo>
                  <a:pt x="0" y="504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9564795" y="1869559"/>
            <a:ext cx="75734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</a:t>
            </a:r>
            <a:endParaRPr/>
          </a:p>
        </p:txBody>
      </p:sp>
      <p:sp>
        <p:nvSpPr>
          <p:cNvPr id="188" name="Google Shape;188;p3"/>
          <p:cNvSpPr txBox="1"/>
          <p:nvPr/>
        </p:nvSpPr>
        <p:spPr>
          <a:xfrm>
            <a:off x="1801899" y="1869559"/>
            <a:ext cx="75734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TECHSTACK </a:t>
            </a:r>
            <a:endParaRPr/>
          </a:p>
        </p:txBody>
      </p:sp>
      <p:sp>
        <p:nvSpPr>
          <p:cNvPr id="189" name="Google Shape;189;p3"/>
          <p:cNvSpPr txBox="1"/>
          <p:nvPr/>
        </p:nvSpPr>
        <p:spPr>
          <a:xfrm>
            <a:off x="1433555" y="3152775"/>
            <a:ext cx="7454543" cy="4514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3062" lvl="1" marL="626123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: React.js, Next.js, CSS</a:t>
            </a:r>
            <a:endParaRPr/>
          </a:p>
          <a:p>
            <a:pPr indent="-313062" lvl="1" marL="626123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: Python + FastAPI</a:t>
            </a:r>
            <a:endParaRPr/>
          </a:p>
          <a:p>
            <a:pPr indent="-313062" lvl="1" marL="626123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: Python, Scikit-learn</a:t>
            </a:r>
            <a:endParaRPr/>
          </a:p>
          <a:p>
            <a:pPr indent="-313062" lvl="1" marL="626123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Analysis: Web3 / Blockchain APIs</a:t>
            </a:r>
            <a:endParaRPr/>
          </a:p>
          <a:p>
            <a:pPr indent="-313062" lvl="1" marL="626123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OSINT : Tor-compatible data sources + APIs</a:t>
            </a:r>
            <a:endParaRPr/>
          </a:p>
          <a:p>
            <a:pPr indent="-313062" lvl="1" marL="626123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: PostgreSQL &amp; Neo4j</a:t>
            </a:r>
            <a:endParaRPr b="0" i="0" sz="30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3062" lvl="1" marL="626123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: Chart.js &amp; React Flow</a:t>
            </a:r>
            <a:endParaRPr b="0" i="0" sz="3000" u="none" cap="none" strike="noStrike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/>
          <p:nvPr/>
        </p:nvSpPr>
        <p:spPr>
          <a:xfrm>
            <a:off x="0" y="9532144"/>
            <a:ext cx="18288000" cy="754856"/>
          </a:xfrm>
          <a:custGeom>
            <a:rect b="b" l="l" r="r" t="t"/>
            <a:pathLst>
              <a:path extrusionOk="0" h="1006475" w="24384000">
                <a:moveTo>
                  <a:pt x="0" y="0"/>
                </a:moveTo>
                <a:lnTo>
                  <a:pt x="24384000" y="0"/>
                </a:lnTo>
                <a:lnTo>
                  <a:pt x="24384000" y="1006475"/>
                </a:lnTo>
                <a:lnTo>
                  <a:pt x="0" y="10064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9" name="Google Shape;199;p4"/>
          <p:cNvGrpSpPr/>
          <p:nvPr/>
        </p:nvGrpSpPr>
        <p:grpSpPr>
          <a:xfrm>
            <a:off x="914400" y="-92869"/>
            <a:ext cx="16459200" cy="1735931"/>
            <a:chOff x="0" y="-28575"/>
            <a:chExt cx="21945600" cy="2314575"/>
          </a:xfrm>
        </p:grpSpPr>
        <p:sp>
          <p:nvSpPr>
            <p:cNvPr id="200" name="Google Shape;200;p4"/>
            <p:cNvSpPr/>
            <p:nvPr/>
          </p:nvSpPr>
          <p:spPr>
            <a:xfrm>
              <a:off x="0" y="0"/>
              <a:ext cx="21945600" cy="2286000"/>
            </a:xfrm>
            <a:custGeom>
              <a:rect b="b" l="l" r="r" t="t"/>
              <a:pathLst>
                <a:path extrusionOk="0"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54545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FEASIBILITY AND VIABILITY</a:t>
              </a:r>
              <a:endParaRPr/>
            </a:p>
          </p:txBody>
        </p:sp>
      </p:grpSp>
      <p:grpSp>
        <p:nvGrpSpPr>
          <p:cNvPr id="202" name="Google Shape;202;p4"/>
          <p:cNvGrpSpPr/>
          <p:nvPr/>
        </p:nvGrpSpPr>
        <p:grpSpPr>
          <a:xfrm>
            <a:off x="13106400" y="9520237"/>
            <a:ext cx="4267200" cy="561976"/>
            <a:chOff x="0" y="-19050"/>
            <a:chExt cx="5689600" cy="749300"/>
          </a:xfrm>
        </p:grpSpPr>
        <p:sp>
          <p:nvSpPr>
            <p:cNvPr id="203" name="Google Shape;203;p4"/>
            <p:cNvSpPr/>
            <p:nvPr/>
          </p:nvSpPr>
          <p:spPr>
            <a:xfrm>
              <a:off x="0" y="0"/>
              <a:ext cx="5689600" cy="730250"/>
            </a:xfrm>
            <a:custGeom>
              <a:rect b="b" l="l" r="r" t="t"/>
              <a:pathLst>
                <a:path extrusionOk="0"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810" l="0" r="0" t="-10181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</p:grpSp>
      <p:grpSp>
        <p:nvGrpSpPr>
          <p:cNvPr id="205" name="Google Shape;205;p4"/>
          <p:cNvGrpSpPr/>
          <p:nvPr/>
        </p:nvGrpSpPr>
        <p:grpSpPr>
          <a:xfrm>
            <a:off x="6972300" y="9520237"/>
            <a:ext cx="4806001" cy="561976"/>
            <a:chOff x="0" y="-19050"/>
            <a:chExt cx="6408001" cy="749300"/>
          </a:xfrm>
        </p:grpSpPr>
        <p:sp>
          <p:nvSpPr>
            <p:cNvPr id="206" name="Google Shape;206;p4"/>
            <p:cNvSpPr/>
            <p:nvPr/>
          </p:nvSpPr>
          <p:spPr>
            <a:xfrm>
              <a:off x="0" y="0"/>
              <a:ext cx="6408000" cy="730250"/>
            </a:xfrm>
            <a:custGeom>
              <a:rect b="b" l="l" r="r" t="t"/>
              <a:pathLst>
                <a:path extrusionOk="0"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0987" l="0" r="0" t="-12098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4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  <a:endParaRPr/>
            </a:p>
          </p:txBody>
        </p:sp>
      </p:grpSp>
      <p:grpSp>
        <p:nvGrpSpPr>
          <p:cNvPr id="208" name="Google Shape;208;p4"/>
          <p:cNvGrpSpPr/>
          <p:nvPr/>
        </p:nvGrpSpPr>
        <p:grpSpPr>
          <a:xfrm>
            <a:off x="475612" y="316459"/>
            <a:ext cx="1915887" cy="1291973"/>
            <a:chOff x="0" y="-57150"/>
            <a:chExt cx="2554516" cy="1722631"/>
          </a:xfrm>
        </p:grpSpPr>
        <p:sp>
          <p:nvSpPr>
            <p:cNvPr descr="Your startup LOGO" id="209" name="Google Shape;209;p4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59595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RootX</a:t>
              </a:r>
              <a:endParaRPr/>
            </a:p>
          </p:txBody>
        </p:sp>
      </p:grpSp>
      <p:sp>
        <p:nvSpPr>
          <p:cNvPr id="211" name="Google Shape;211;p4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1150227" y="2105273"/>
            <a:ext cx="7871168" cy="6845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Viability</a:t>
            </a:r>
            <a:endParaRPr/>
          </a:p>
          <a:p>
            <a:pPr indent="-323856" lvl="1" marL="647713" marR="0" rtl="0" algn="l">
              <a:lnSpc>
                <a:spcPct val="152812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Technically Feasible : </a:t>
            </a: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existing </a:t>
            </a:r>
            <a:r>
              <a:rPr b="0" i="0" lang="en-US" sz="28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8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OSINT</a:t>
            </a: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blockchain and cybersecurity technologies.</a:t>
            </a:r>
            <a:endParaRPr/>
          </a:p>
          <a:p>
            <a:pPr indent="-323856" lvl="1" marL="647713" marR="0" rtl="0" algn="l">
              <a:lnSpc>
                <a:spcPct val="152812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Effective : </a:t>
            </a: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developed using open-source tools and public threat data.</a:t>
            </a:r>
            <a:endParaRPr/>
          </a:p>
          <a:p>
            <a:pPr indent="-323856" lvl="1" marL="647713" marR="0" rtl="0" algn="l">
              <a:lnSpc>
                <a:spcPct val="152812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</a:t>
            </a: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8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handle increasing users, transactions and threat data.</a:t>
            </a:r>
            <a:endParaRPr/>
          </a:p>
          <a:p>
            <a:pPr indent="-323856" lvl="1" marL="647713" marR="0" rtl="0" algn="l">
              <a:lnSpc>
                <a:spcPct val="152812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Viable: </a:t>
            </a:r>
            <a:r>
              <a:rPr b="0" i="0" lang="en-US" sz="28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seful for law enforcement, </a:t>
            </a:r>
            <a:r>
              <a:rPr b="0" i="0" lang="en-US" sz="28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CERTs </a:t>
            </a: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cybersecurity teams for early threat detection.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9681749" y="2243040"/>
            <a:ext cx="81153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&amp; Risks</a:t>
            </a:r>
            <a:endParaRPr/>
          </a:p>
          <a:p>
            <a:pPr indent="-323856" lvl="1" marL="6477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Dark-web data is unstable and difficult to collect.</a:t>
            </a:r>
            <a:endParaRPr/>
          </a:p>
          <a:p>
            <a:pPr indent="-323856" lvl="1" marL="6477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positives, encryption and large data volumes can affect accuracy.</a:t>
            </a:r>
            <a:endParaRPr/>
          </a:p>
          <a:p>
            <a:pPr indent="-323856" lvl="1" marL="6477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Privacy, legal and ethical concerns must be managed.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9681749" y="5443440"/>
            <a:ext cx="7863025" cy="3237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Strategies</a:t>
            </a:r>
            <a:endParaRPr/>
          </a:p>
          <a:p>
            <a:pPr indent="-323856" lvl="1" marL="6477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multiple intelligence sources for better accuracy.</a:t>
            </a:r>
            <a:endParaRPr/>
          </a:p>
          <a:p>
            <a:pPr indent="-323856" lvl="1" marL="6477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AI-based risk scoring instead of direct assumptions.</a:t>
            </a:r>
            <a:endParaRPr/>
          </a:p>
          <a:p>
            <a:pPr indent="-323856" lvl="1" marL="64771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454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Continuously update threat data and maintain secure, isolated monitoring.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/>
          <p:nvPr/>
        </p:nvSpPr>
        <p:spPr>
          <a:xfrm>
            <a:off x="0" y="9532144"/>
            <a:ext cx="18288000" cy="754856"/>
          </a:xfrm>
          <a:custGeom>
            <a:rect b="b" l="l" r="r" t="t"/>
            <a:pathLst>
              <a:path extrusionOk="0" h="1006475" w="24384000">
                <a:moveTo>
                  <a:pt x="0" y="0"/>
                </a:moveTo>
                <a:lnTo>
                  <a:pt x="24384000" y="0"/>
                </a:lnTo>
                <a:lnTo>
                  <a:pt x="24384000" y="1006475"/>
                </a:lnTo>
                <a:lnTo>
                  <a:pt x="0" y="10064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4" name="Google Shape;224;p5"/>
          <p:cNvGrpSpPr/>
          <p:nvPr/>
        </p:nvGrpSpPr>
        <p:grpSpPr>
          <a:xfrm>
            <a:off x="914400" y="-92869"/>
            <a:ext cx="16459200" cy="1735931"/>
            <a:chOff x="0" y="-28575"/>
            <a:chExt cx="21945600" cy="2314575"/>
          </a:xfrm>
        </p:grpSpPr>
        <p:sp>
          <p:nvSpPr>
            <p:cNvPr id="225" name="Google Shape;225;p5"/>
            <p:cNvSpPr/>
            <p:nvPr/>
          </p:nvSpPr>
          <p:spPr>
            <a:xfrm>
              <a:off x="0" y="0"/>
              <a:ext cx="21945600" cy="2286000"/>
            </a:xfrm>
            <a:custGeom>
              <a:rect b="b" l="l" r="r" t="t"/>
              <a:pathLst>
                <a:path extrusionOk="0"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5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54545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IMPACT AND BENEFITS</a:t>
              </a:r>
              <a:endParaRPr/>
            </a:p>
          </p:txBody>
        </p:sp>
      </p:grpSp>
      <p:sp>
        <p:nvSpPr>
          <p:cNvPr id="227" name="Google Shape;227;p5"/>
          <p:cNvSpPr txBox="1"/>
          <p:nvPr/>
        </p:nvSpPr>
        <p:spPr>
          <a:xfrm>
            <a:off x="836971" y="2312948"/>
            <a:ext cx="8838950" cy="5975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Impact</a:t>
            </a:r>
            <a:endParaRPr/>
          </a:p>
          <a:p>
            <a:pPr indent="-274320" lvl="1" marL="274320" marR="0" rtl="0" algn="just">
              <a:lnSpc>
                <a:spcPct val="14771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 teams </a:t>
            </a:r>
            <a:r>
              <a:rPr b="0" i="0" lang="en-US" sz="29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Faster detection and prioritization of cyber threats.</a:t>
            </a:r>
            <a:endParaRPr/>
          </a:p>
          <a:p>
            <a:pPr indent="-274320" lvl="1" marL="274320" marR="0" rtl="0" algn="just">
              <a:lnSpc>
                <a:spcPct val="14771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 Forensics : </a:t>
            </a:r>
            <a:r>
              <a:rPr b="0" i="0" lang="en-US" sz="29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trace threat actors and analyze digital evidence.</a:t>
            </a:r>
            <a:endParaRPr/>
          </a:p>
          <a:p>
            <a:pPr indent="-274320" lvl="1" marL="274320" marR="0" rtl="0" algn="just">
              <a:lnSpc>
                <a:spcPct val="14771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 Enforcement </a:t>
            </a:r>
            <a:r>
              <a:rPr b="0" i="0" lang="en-US" sz="29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Supports investigation of dark-web activities.</a:t>
            </a:r>
            <a:endParaRPr/>
          </a:p>
          <a:p>
            <a:pPr indent="-274320" lvl="1" marL="274320" marR="0" rtl="0" algn="just">
              <a:lnSpc>
                <a:spcPct val="14771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: </a:t>
            </a:r>
            <a:r>
              <a:rPr b="0" i="0" lang="en-US" sz="29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proactive threat monitoring and response.</a:t>
            </a:r>
            <a:endParaRPr/>
          </a:p>
          <a:p>
            <a:pPr indent="0" lvl="0" marL="0" marR="0" rtl="0" algn="just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8" name="Google Shape;228;p5"/>
          <p:cNvGrpSpPr/>
          <p:nvPr/>
        </p:nvGrpSpPr>
        <p:grpSpPr>
          <a:xfrm>
            <a:off x="13106400" y="9520237"/>
            <a:ext cx="4267200" cy="561976"/>
            <a:chOff x="0" y="-19050"/>
            <a:chExt cx="5689600" cy="749300"/>
          </a:xfrm>
        </p:grpSpPr>
        <p:sp>
          <p:nvSpPr>
            <p:cNvPr id="229" name="Google Shape;229;p5"/>
            <p:cNvSpPr/>
            <p:nvPr/>
          </p:nvSpPr>
          <p:spPr>
            <a:xfrm>
              <a:off x="0" y="0"/>
              <a:ext cx="5689600" cy="730250"/>
            </a:xfrm>
            <a:custGeom>
              <a:rect b="b" l="l" r="r" t="t"/>
              <a:pathLst>
                <a:path extrusionOk="0"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810" l="0" r="0" t="-10181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5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</p:grpSp>
      <p:grpSp>
        <p:nvGrpSpPr>
          <p:cNvPr id="231" name="Google Shape;231;p5"/>
          <p:cNvGrpSpPr/>
          <p:nvPr/>
        </p:nvGrpSpPr>
        <p:grpSpPr>
          <a:xfrm>
            <a:off x="6972300" y="9520237"/>
            <a:ext cx="4806001" cy="561976"/>
            <a:chOff x="0" y="-19050"/>
            <a:chExt cx="6408001" cy="749300"/>
          </a:xfrm>
        </p:grpSpPr>
        <p:sp>
          <p:nvSpPr>
            <p:cNvPr id="232" name="Google Shape;232;p5"/>
            <p:cNvSpPr/>
            <p:nvPr/>
          </p:nvSpPr>
          <p:spPr>
            <a:xfrm>
              <a:off x="0" y="0"/>
              <a:ext cx="6408000" cy="730250"/>
            </a:xfrm>
            <a:custGeom>
              <a:rect b="b" l="l" r="r" t="t"/>
              <a:pathLst>
                <a:path extrusionOk="0"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0987" l="0" r="0" t="-12098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  <a:endParaRPr/>
            </a:p>
          </p:txBody>
        </p:sp>
      </p:grpSp>
      <p:grpSp>
        <p:nvGrpSpPr>
          <p:cNvPr id="234" name="Google Shape;234;p5"/>
          <p:cNvGrpSpPr/>
          <p:nvPr/>
        </p:nvGrpSpPr>
        <p:grpSpPr>
          <a:xfrm>
            <a:off x="475612" y="316458"/>
            <a:ext cx="1915887" cy="1291975"/>
            <a:chOff x="0" y="-57150"/>
            <a:chExt cx="2554516" cy="1722632"/>
          </a:xfrm>
        </p:grpSpPr>
        <p:sp>
          <p:nvSpPr>
            <p:cNvPr descr="Your startup LOGO" id="235" name="Google Shape;235;p5"/>
            <p:cNvSpPr/>
            <p:nvPr/>
          </p:nvSpPr>
          <p:spPr>
            <a:xfrm>
              <a:off x="0" y="1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54545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RootX</a:t>
              </a:r>
              <a:endParaRPr/>
            </a:p>
          </p:txBody>
        </p:sp>
      </p:grpSp>
      <p:sp>
        <p:nvSpPr>
          <p:cNvPr id="237" name="Google Shape;237;p5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9753350" y="2326467"/>
            <a:ext cx="7620250" cy="5313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Benefits </a:t>
            </a:r>
            <a:endParaRPr/>
          </a:p>
          <a:p>
            <a:pPr indent="-323856" lvl="1" marL="647713" marR="0" rtl="0" algn="l">
              <a:lnSpc>
                <a:spcPct val="16406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: </a:t>
            </a: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overall digital safety.</a:t>
            </a:r>
            <a:endParaRPr/>
          </a:p>
          <a:p>
            <a:pPr indent="-323856" lvl="1" marL="647713" marR="0" rtl="0" algn="l">
              <a:lnSpc>
                <a:spcPct val="16406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: </a:t>
            </a: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reduce losses from cybercrime.</a:t>
            </a:r>
            <a:endParaRPr/>
          </a:p>
          <a:p>
            <a:pPr indent="-323856" lvl="1" marL="647713" marR="0" rtl="0" algn="l">
              <a:lnSpc>
                <a:spcPct val="16406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: </a:t>
            </a: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early detection and faster incident response.</a:t>
            </a:r>
            <a:endParaRPr/>
          </a:p>
          <a:p>
            <a:pPr indent="-323856" lvl="1" marL="647713" marR="0" rtl="0" algn="l">
              <a:lnSpc>
                <a:spcPct val="16406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: </a:t>
            </a: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manual effort in threat analysis.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/>
          <p:nvPr/>
        </p:nvSpPr>
        <p:spPr>
          <a:xfrm>
            <a:off x="0" y="9532144"/>
            <a:ext cx="18288000" cy="754856"/>
          </a:xfrm>
          <a:custGeom>
            <a:rect b="b" l="l" r="r" t="t"/>
            <a:pathLst>
              <a:path extrusionOk="0" h="1006475" w="24384000">
                <a:moveTo>
                  <a:pt x="0" y="0"/>
                </a:moveTo>
                <a:lnTo>
                  <a:pt x="24384000" y="0"/>
                </a:lnTo>
                <a:lnTo>
                  <a:pt x="24384000" y="1006475"/>
                </a:lnTo>
                <a:lnTo>
                  <a:pt x="0" y="10064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p6"/>
          <p:cNvGrpSpPr/>
          <p:nvPr/>
        </p:nvGrpSpPr>
        <p:grpSpPr>
          <a:xfrm>
            <a:off x="914400" y="-92869"/>
            <a:ext cx="16459200" cy="1735931"/>
            <a:chOff x="0" y="-28575"/>
            <a:chExt cx="21945600" cy="2314575"/>
          </a:xfrm>
        </p:grpSpPr>
        <p:sp>
          <p:nvSpPr>
            <p:cNvPr id="249" name="Google Shape;249;p6"/>
            <p:cNvSpPr/>
            <p:nvPr/>
          </p:nvSpPr>
          <p:spPr>
            <a:xfrm>
              <a:off x="0" y="0"/>
              <a:ext cx="21945600" cy="2286000"/>
            </a:xfrm>
            <a:custGeom>
              <a:rect b="b" l="l" r="r" t="t"/>
              <a:pathLst>
                <a:path extrusionOk="0"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545454"/>
                  </a:solidFill>
                  <a:latin typeface="Times"/>
                  <a:ea typeface="Times"/>
                  <a:cs typeface="Times"/>
                  <a:sym typeface="Times"/>
                </a:rPr>
                <a:t>RESEARCH  AND REFERENCES</a:t>
              </a:r>
              <a:endParaRPr/>
            </a:p>
          </p:txBody>
        </p:sp>
      </p:grpSp>
      <p:grpSp>
        <p:nvGrpSpPr>
          <p:cNvPr id="251" name="Google Shape;251;p6"/>
          <p:cNvGrpSpPr/>
          <p:nvPr/>
        </p:nvGrpSpPr>
        <p:grpSpPr>
          <a:xfrm>
            <a:off x="13106400" y="9520237"/>
            <a:ext cx="4267200" cy="561976"/>
            <a:chOff x="0" y="-19050"/>
            <a:chExt cx="5689600" cy="749300"/>
          </a:xfrm>
        </p:grpSpPr>
        <p:sp>
          <p:nvSpPr>
            <p:cNvPr id="252" name="Google Shape;252;p6"/>
            <p:cNvSpPr/>
            <p:nvPr/>
          </p:nvSpPr>
          <p:spPr>
            <a:xfrm>
              <a:off x="0" y="0"/>
              <a:ext cx="5689600" cy="730250"/>
            </a:xfrm>
            <a:custGeom>
              <a:rect b="b" l="l" r="r" t="t"/>
              <a:pathLst>
                <a:path extrusionOk="0"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810" l="0" r="0" t="-10181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  <a:endParaRPr/>
            </a:p>
          </p:txBody>
        </p:sp>
      </p:grpSp>
      <p:grpSp>
        <p:nvGrpSpPr>
          <p:cNvPr id="254" name="Google Shape;254;p6"/>
          <p:cNvGrpSpPr/>
          <p:nvPr/>
        </p:nvGrpSpPr>
        <p:grpSpPr>
          <a:xfrm>
            <a:off x="6972300" y="9520237"/>
            <a:ext cx="4806001" cy="561976"/>
            <a:chOff x="0" y="-19050"/>
            <a:chExt cx="6408001" cy="749300"/>
          </a:xfrm>
        </p:grpSpPr>
        <p:sp>
          <p:nvSpPr>
            <p:cNvPr id="255" name="Google Shape;255;p6"/>
            <p:cNvSpPr/>
            <p:nvPr/>
          </p:nvSpPr>
          <p:spPr>
            <a:xfrm>
              <a:off x="0" y="0"/>
              <a:ext cx="6408000" cy="730250"/>
            </a:xfrm>
            <a:custGeom>
              <a:rect b="b" l="l" r="r" t="t"/>
              <a:pathLst>
                <a:path extrusionOk="0"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0987" l="0" r="0" t="-12098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  <a:endParaRPr/>
            </a:p>
          </p:txBody>
        </p:sp>
      </p:grpSp>
      <p:grpSp>
        <p:nvGrpSpPr>
          <p:cNvPr id="257" name="Google Shape;257;p6"/>
          <p:cNvGrpSpPr/>
          <p:nvPr/>
        </p:nvGrpSpPr>
        <p:grpSpPr>
          <a:xfrm>
            <a:off x="475612" y="316459"/>
            <a:ext cx="1915887" cy="1291973"/>
            <a:chOff x="0" y="-57150"/>
            <a:chExt cx="2554516" cy="1722631"/>
          </a:xfrm>
        </p:grpSpPr>
        <p:sp>
          <p:nvSpPr>
            <p:cNvPr descr="Your startup LOGO" id="258" name="Google Shape;258;p6"/>
            <p:cNvSpPr/>
            <p:nvPr/>
          </p:nvSpPr>
          <p:spPr>
            <a:xfrm>
              <a:off x="0" y="0"/>
              <a:ext cx="2554478" cy="1665481"/>
            </a:xfrm>
            <a:custGeom>
              <a:rect b="b" l="l" r="r" t="t"/>
              <a:pathLst>
                <a:path extrusionOk="0"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8064A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6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rgbClr val="54545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RootX</a:t>
              </a:r>
              <a:endParaRPr/>
            </a:p>
          </p:txBody>
        </p:sp>
      </p:grpSp>
      <p:sp>
        <p:nvSpPr>
          <p:cNvPr id="260" name="Google Shape;260;p6"/>
          <p:cNvSpPr/>
          <p:nvPr/>
        </p:nvSpPr>
        <p:spPr>
          <a:xfrm>
            <a:off x="14670129" y="2248"/>
            <a:ext cx="3374802" cy="1593532"/>
          </a:xfrm>
          <a:custGeom>
            <a:rect b="b" l="l" r="r" t="t"/>
            <a:pathLst>
              <a:path extrusionOk="0" h="2124710" w="4499737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1028700" y="1884107"/>
            <a:ext cx="15417796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Research Domains Applied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Graph-Based CTI: Methodologies for visualizing Cyber Threat Intelligence using node-edge structures.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Stylometry: Advanced NLP techniques for authorship attribution and text pattern matching.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Resolution: Algorithmic approaches to linking fragmented identities across Open Source Intelligence (OSINT).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Frameworks &amp; Data Sources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MITRE ATT&amp;CK Framework: Baseline for modeling threat actor tactics and techniques. 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NIST Cybersecurity Framework: Core guidelines for threat detection and anomaly reporting.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